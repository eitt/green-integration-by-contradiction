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/>
              <a:t>Figure 1. Analytical architecture of the asymmetric documentary–comparative design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0BB00CE-617C-D1FE-BD3E-1F2113C5454F}"/>
              </a:ext>
            </a:extLst>
          </p:cNvPr>
          <p:cNvGrpSpPr/>
          <p:nvPr/>
        </p:nvGrpSpPr>
        <p:grpSpPr>
          <a:xfrm>
            <a:off x="374904" y="1453896"/>
            <a:ext cx="8412480" cy="5367528"/>
            <a:chOff x="374904" y="1453896"/>
            <a:chExt cx="8412480" cy="536752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0CF0DB7F-FA38-1490-72DB-5D922A270B86}"/>
                </a:ext>
              </a:extLst>
            </p:cNvPr>
            <p:cNvGrpSpPr/>
            <p:nvPr/>
          </p:nvGrpSpPr>
          <p:grpSpPr>
            <a:xfrm>
              <a:off x="457200" y="1453896"/>
              <a:ext cx="8229600" cy="1371600"/>
              <a:chOff x="457200" y="1453896"/>
              <a:chExt cx="8229600" cy="137160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457200" y="1453896"/>
                <a:ext cx="3657600" cy="1371600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>
                    <a:solidFill>
                      <a:schemeClr val="tx1"/>
                    </a:solidFill>
                  </a:rPr>
                  <a:t>Benchmark literature corpus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Route systems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Sustainability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Competitiveness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Methodology</a:t>
                </a:r>
              </a:p>
            </p:txBody>
          </p:sp>
          <p:sp>
            <p:nvSpPr>
              <p:cNvPr id="5" name="Rounded Rectangle 4"/>
              <p:cNvSpPr/>
              <p:nvPr/>
            </p:nvSpPr>
            <p:spPr>
              <a:xfrm>
                <a:off x="5029200" y="1453896"/>
                <a:ext cx="3657600" cy="1371600"/>
              </a:xfrm>
              <a:prstGeom prst="roundRect">
                <a:avLst/>
              </a:prstGeom>
              <a:solidFill>
                <a:srgbClr val="D9D9D9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>
                    <a:solidFill>
                      <a:schemeClr val="tx1"/>
                    </a:solidFill>
                  </a:rPr>
                  <a:t>Colombian evidence base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Legal sources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Institutional data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Regional routes</a:t>
                </a: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2286000" y="3543300"/>
              <a:ext cx="4572000" cy="1371600"/>
            </a:xfrm>
            <a:prstGeom prst="rect">
              <a:avLst/>
            </a:prstGeom>
            <a:solidFill>
              <a:srgbClr val="7F7F7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dirty="0">
                  <a:solidFill>
                    <a:srgbClr val="FFFFFF"/>
                  </a:solidFill>
                </a:rPr>
                <a:t>Analytical processing</a:t>
              </a:r>
            </a:p>
            <a:p>
              <a:r>
                <a:rPr dirty="0">
                  <a:solidFill>
                    <a:srgbClr val="FFFFFF"/>
                  </a:solidFill>
                </a:rPr>
                <a:t>- Domain classification</a:t>
              </a:r>
            </a:p>
            <a:p>
              <a:r>
                <a:rPr dirty="0">
                  <a:solidFill>
                    <a:srgbClr val="FFFFFF"/>
                  </a:solidFill>
                </a:rPr>
                <a:t>- Claim extraction</a:t>
              </a:r>
            </a:p>
            <a:p>
              <a:r>
                <a:rPr dirty="0">
                  <a:solidFill>
                    <a:srgbClr val="FFFFFF"/>
                  </a:solidFill>
                </a:rPr>
                <a:t>- Segment differentiation</a:t>
              </a:r>
            </a:p>
            <a:p>
              <a:r>
                <a:rPr dirty="0">
                  <a:solidFill>
                    <a:srgbClr val="FFFFFF"/>
                  </a:solidFill>
                </a:rPr>
                <a:t>- Benchmarking</a:t>
              </a:r>
            </a:p>
          </p:txBody>
        </p: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5FF90844-52DD-2E82-50BC-AED8792DC751}"/>
                </a:ext>
              </a:extLst>
            </p:cNvPr>
            <p:cNvGrpSpPr/>
            <p:nvPr/>
          </p:nvGrpSpPr>
          <p:grpSpPr>
            <a:xfrm>
              <a:off x="374904" y="5632704"/>
              <a:ext cx="8412480" cy="1188720"/>
              <a:chOff x="374904" y="5632704"/>
              <a:chExt cx="8412480" cy="118872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74904" y="5632704"/>
                <a:ext cx="2560320" cy="11887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>
                    <a:solidFill>
                      <a:schemeClr val="tx1"/>
                    </a:solidFill>
                  </a:rPr>
                  <a:t>Route delimitation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Protected vs extended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300984" y="5632704"/>
                <a:ext cx="2560320" cy="11887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>
                    <a:solidFill>
                      <a:schemeClr val="tx1"/>
                    </a:solidFill>
                  </a:rPr>
                  <a:t>Sustainability gaps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Governance, capacity, monitoring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227064" y="5632704"/>
                <a:ext cx="2560320" cy="11887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>
                    <a:solidFill>
                      <a:schemeClr val="tx1"/>
                    </a:solidFill>
                  </a:rPr>
                  <a:t>Research agenda</a:t>
                </a:r>
              </a:p>
              <a:p>
                <a:r>
                  <a:rPr dirty="0">
                    <a:solidFill>
                      <a:schemeClr val="tx1"/>
                    </a:solidFill>
                  </a:rPr>
                  <a:t>- Indicators, validation</a:t>
                </a:r>
              </a:p>
            </p:txBody>
          </p:sp>
        </p:grp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F0518025-AE4E-573A-C856-995994EB49C2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2286000" y="2825496"/>
              <a:ext cx="2286000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D46D7C5-9AE4-3E7C-99BD-E8C10F4C97DA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4572000" y="2825496"/>
              <a:ext cx="2286000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6EBC047A-4E90-C98D-58D3-4B109B4E4C52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1655064" y="4914900"/>
              <a:ext cx="2916936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70B367F7-353C-A0B8-F3A0-416BCF628D0B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4572000" y="4914900"/>
              <a:ext cx="9144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CB98EDD4-62E6-EED8-317B-92C7BFCEC7D9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4572000" y="4914900"/>
              <a:ext cx="2935224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</Words>
  <Application>Microsoft Office PowerPoint</Application>
  <PresentationFormat>Presentación en pantalla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HERNAN TALERO SARMIENTO</cp:lastModifiedBy>
  <cp:revision>3</cp:revision>
  <dcterms:created xsi:type="dcterms:W3CDTF">2013-01-27T09:14:16Z</dcterms:created>
  <dcterms:modified xsi:type="dcterms:W3CDTF">2026-04-07T21:16:14Z</dcterms:modified>
  <cp:category/>
</cp:coreProperties>
</file>